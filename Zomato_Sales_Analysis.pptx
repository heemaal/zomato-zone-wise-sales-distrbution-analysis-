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Index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3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A6-4F6C-8DC2-C88EF207DA70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A6-4F6C-8DC2-C88EF207DA70}"/>
              </c:ext>
            </c:extLst>
          </c:dPt>
          <c:dPt>
            <c:idx val="2"/>
            <c:invertIfNegative val="0"/>
            <c:bubble3D val="0"/>
            <c:spPr>
              <a:solidFill>
                <a:srgbClr val="E23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A6-4F6C-8DC2-C88EF207DA70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A6-4F6C-8DC2-C88EF207DA70}"/>
              </c:ext>
            </c:extLst>
          </c:dPt>
          <c:dPt>
            <c:idx val="4"/>
            <c:invertIfNegative val="0"/>
            <c:bubble3D val="0"/>
            <c:spPr>
              <a:solidFill>
                <a:srgbClr val="E23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A6-4F6C-8DC2-C88EF207DA7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43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North Zone</c:v>
                </c:pt>
                <c:pt idx="1">
                  <c:v>South Zone</c:v>
                </c:pt>
                <c:pt idx="2">
                  <c:v>East Zone</c:v>
                </c:pt>
                <c:pt idx="3">
                  <c:v>West Zone</c:v>
                </c:pt>
                <c:pt idx="4">
                  <c:v>Central Zone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92</c:v>
                </c:pt>
                <c:pt idx="2">
                  <c:v>61</c:v>
                </c:pt>
                <c:pt idx="3">
                  <c:v>85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4A6-4F6C-8DC2-C88EF207DA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3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43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Delivery Time (min)</c:v>
                </c:pt>
                <c:pt idx="1">
                  <c:v>Cancellation Rate %</c:v>
                </c:pt>
                <c:pt idx="2">
                  <c:v>Customer Rating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18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4-4ACA-98DB-304DA45E8B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(Target)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43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Delivery Time (min)</c:v>
                </c:pt>
                <c:pt idx="1">
                  <c:v>Cancellation Rate %</c:v>
                </c:pt>
                <c:pt idx="2">
                  <c:v>Customer Rating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</c:v>
                </c:pt>
                <c:pt idx="1">
                  <c:v>9</c:v>
                </c:pt>
                <c:pt idx="2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14-4ACA-98DB-304DA45E8B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3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43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Sales Index</c:v>
                </c:pt>
                <c:pt idx="1">
                  <c:v>Order Volume</c:v>
                </c:pt>
                <c:pt idx="2">
                  <c:v>Avg Rating</c:v>
                </c:pt>
                <c:pt idx="3">
                  <c:v>Delivery SLA %</c:v>
                </c:pt>
                <c:pt idx="4">
                  <c:v>Customer Sat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70</c:v>
                </c:pt>
                <c:pt idx="2">
                  <c:v>64</c:v>
                </c:pt>
                <c:pt idx="3">
                  <c:v>55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06-4357-AE37-7C3D563764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90-Day Target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43A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Sales Index</c:v>
                </c:pt>
                <c:pt idx="1">
                  <c:v>Order Volume</c:v>
                </c:pt>
                <c:pt idx="2">
                  <c:v>Avg Rating</c:v>
                </c:pt>
                <c:pt idx="3">
                  <c:v>Delivery SLA %</c:v>
                </c:pt>
                <c:pt idx="4">
                  <c:v>Customer Sat 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88</c:v>
                </c:pt>
                <c:pt idx="2">
                  <c:v>82</c:v>
                </c:pt>
                <c:pt idx="3">
                  <c:v>90</c:v>
                </c:pt>
                <c:pt idx="4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06-4357-AE37-7C3D563764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43A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1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the tone: Zomato is facing a critical business challenge with declining sales. This deck outlines the problem and actionable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core problem pillars. Emphasize that these are interconnected — delivery delays → poor ratings → cancellations → revenue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problem chain. Emphasize that delivery delay is the root cause triggering a domino effect on all other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critical KPIs from the Zomato dashboard. Red indicators = immediate action needed. Point out that all key metrics are trending negatively simultaneously — systemic issue, not isolated.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Geographic spread matters. Central and East zones are dragging overall numbers. Targeted zone recovery plans should be the immediate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root causes are interconnected. Logistics failure is the most acute — fix delivery first. Quality and pricing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five solutions roadmap. Focus on S1 and S5 as quick wins. Impact level helps prioritize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optimization is the #1 priority. A 15-minute reduction in avg delivery time historically reduces cancellations by 40-50%. This is the highest ROI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initiatives tackle the demand side. Better quality retains customers; smarter pricing attracts new ones. Run them in parallel for compounding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 sprint, not a long-term project. 90 days is achievable. Phase 1 focuses on quick wins that stop the bleeding. Phases 2-3 build the foundation for sustainable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targets are conservative and achievable. Even a 25% improvement across metrics would represent a significant business recovery and justify the investment in these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conviction. The data is clear, the solutions are ready. Reiterate that inaction will compound the problem. End with a call for immediate approval on Phase 1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175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64008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the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Slowdown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200400" y="2331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Analysis &amp; Strategic Solutions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2926080"/>
            <a:ext cx="5029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Zomato Dashboard Analytics  |  FY 2024-25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  Heemaal Jaglan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3977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46120" y="4050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Declining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3977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66360" y="4050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6636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Rising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39776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86600" y="4050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8660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Increasing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606ED6-35B4-C739-60BE-3F35BA7DE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926080" cy="20311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Zomato Analytics Dashboard reveals a multi-dimensional sales crisis driven by operational inefficiencies, geographic revenue concentration, and rising customer churn. Immediate intervention is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933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Decline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234086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down across key zones with no recovery trend in sight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288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7627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9933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Drop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234086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 decreasing despite restaurant count growth — demand problem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246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9359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410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Erosion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375818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falling below acceptable threshold, impacting repeat orders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246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9359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410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77840" y="375818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delivery time climbing, directly linked to cancellation rate spike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Going Wrong?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revenue is declining across multiple states and zones, despite growing market opportunity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 is rising sharply — customers are abandoning orders mid-process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Delivery Time is increasing, signaling last-mile logistics breakdown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ratings dropping, suggesting dissatisfaction with food quality or service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count growing but customer count is stagnating — supply-demand mismatch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Chain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50876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Delays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9110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103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Customer Experience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5054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69748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B0203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697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Ratings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0998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329184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291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Cancellations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6941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388620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Loss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Indicators from Zomato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1234440"/>
            <a:ext cx="228600" cy="228600"/>
          </a:xfrm>
          <a:prstGeom prst="roundRect">
            <a:avLst>
              <a:gd name="adj" fmla="val 48000"/>
            </a:avLst>
          </a:prstGeom>
          <a:solidFill>
            <a:srgbClr val="E237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Declining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zones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1234440"/>
            <a:ext cx="228600" cy="228600"/>
          </a:xfrm>
          <a:prstGeom prst="roundRect">
            <a:avLst>
              <a:gd name="adj" fmla="val 48000"/>
            </a:avLst>
          </a:prstGeom>
          <a:solidFill>
            <a:srgbClr val="E237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18928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Dropping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33756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1430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1234440"/>
            <a:ext cx="228600" cy="228600"/>
          </a:xfrm>
          <a:prstGeom prst="roundRect">
            <a:avLst>
              <a:gd name="adj" fmla="val 48000"/>
            </a:avLst>
          </a:prstGeom>
          <a:solidFill>
            <a:srgbClr val="E2374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3716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17920" y="18928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3.9 / 5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21792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4.3 threshold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7432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651760" y="3108960"/>
            <a:ext cx="228600" cy="228600"/>
          </a:xfrm>
          <a:prstGeom prst="roundRect">
            <a:avLst>
              <a:gd name="adj" fmla="val 48000"/>
            </a:avLst>
          </a:prstGeom>
          <a:solidFill>
            <a:srgbClr val="E2374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461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45+ min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45720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&lt;30 min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15468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32120" y="3108960"/>
            <a:ext cx="228600" cy="228600"/>
          </a:xfrm>
          <a:prstGeom prst="roundRect">
            <a:avLst>
              <a:gd name="adj" fmla="val 48000"/>
            </a:avLst>
          </a:prstGeom>
          <a:solidFill>
            <a:srgbClr val="E23744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461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8620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33756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</a:t>
            </a:r>
            <a:r>
              <a:rPr lang="en-US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333756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avg: 3%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301752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E2A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246120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766560" y="3246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Count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217920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Flat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621792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growth trend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SALES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Zone-wise Revenue Performance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Geographic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3716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83480" y="1600200"/>
            <a:ext cx="320040" cy="32004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Zone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764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performance — only 55% of target. Severely under-resourced.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2860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2514600"/>
            <a:ext cx="320040" cy="32004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 Zone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2679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trend with high cancellation rates. Delivery partner shortage.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32004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83480" y="342900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Zone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94960" y="3593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performance. Ratings are low despite decent order volume.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411480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83480" y="434340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8"/>
          <p:cNvSpPr/>
          <p:nvPr/>
        </p:nvSpPr>
        <p:spPr>
          <a:xfrm>
            <a:off x="539496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&amp; West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94960" y="4507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performers but showing signs of saturation and slowing growth.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0203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Sales Declining? — 4 Core Drivers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904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Last-Mile Logistics Failure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2219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partner capacity hasn't scaled with order volume. Peak-hour delivery times exceed 50 min in several states, directly driving cancellations.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4904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4068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Quality Inconsistency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2219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partners in underperforming zones show low ratings (&lt; 3.0). Poor quality control is eroding the Zomato brand promise.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24612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83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319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6012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Discount Strategy Gap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0507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offering steeper discounts in key markets. Zomato's reduced promotional spend has made it less attractive to price-sensitive customers.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24612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83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319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4068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Failure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40507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repeat order rate. The loyalty program is not resonating. Customers who cancel once rarely return — churn compounds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SOLUTIONS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Initiatives to Reverse the Sales Decline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Fleet Optimization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389888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E237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3898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69480" y="1389888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1389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30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0848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122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Partner Quality Program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E237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1031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69480" y="21031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C3E50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2103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60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79806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8254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&amp; Targeted Discounts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2816352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8163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2816352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28163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45 Days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1985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51129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5387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Loyalty Revamp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3529584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5295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69480" y="3529584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C3E50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35295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90 Days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422452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498D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251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Zone-Specific Recovery Plans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4242816"/>
            <a:ext cx="731520" cy="347472"/>
          </a:xfrm>
          <a:prstGeom prst="roundRect">
            <a:avLst>
              <a:gd name="adj" fmla="val 13158"/>
            </a:avLst>
          </a:prstGeom>
          <a:solidFill>
            <a:srgbClr val="E23744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24281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4242816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C3E50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424281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45 Days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— DELIVERY FLEET OPTIMIZATION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20% more delivery partners in Central &amp; East zones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AI-based order batching to reduce idle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dedicated peak-hour delivery squads (12pm–2pm, 7pm–10pm)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real-time traffic routing for faster last-mile delivery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SLA: 95% orders delivered in &lt; 35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663440" y="13716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+ S3 — QUALITY PROGRAM &amp; PRICING STRATEGY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Quality Program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audits for all restaurants below 3.5★ rating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food hygiene certification for partners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'Zomato Verified' badge for top-rated restaurants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Delist or suspend restaurants with persistent complaints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training resources and packaging standards to partners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&amp; Discounts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geo-targeted discount campaigns in low-sales zones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Re-introduce 'Zomato Gold' loyalty tier for frequent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banks for exclusive cashback offers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 pricing controls during peak hours to retain customers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deals on high-margin categories (beverages, desserts)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Recovery Sprint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96596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delivery partners (Central, East)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real-time route optimization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geo-targeted discounts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restaurant quality audits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96596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Peak-hour delivery squads live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Verified badge rollout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cashback partnerships live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recovery dashboards active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0F122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96596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 revamp launch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Delist underperforming restaurants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Cancellation &lt; 10%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optimize all KPIs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12527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12527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— 90 DAYS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Recovery Targets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Improvements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1417320"/>
            <a:ext cx="33832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1490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Revenue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0" y="2075688"/>
            <a:ext cx="33832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23560" y="2148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Volume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52360" y="2148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+26%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0" y="2734056"/>
            <a:ext cx="33832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23560" y="28072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52360" y="28072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+0.9★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0" y="3392424"/>
            <a:ext cx="33832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34655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52360" y="346557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0" y="4050792"/>
            <a:ext cx="33832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23560" y="41239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52360" y="412394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 min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2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237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74320" y="38404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Now.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Fast.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0" y="457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23360" y="1188720"/>
            <a:ext cx="457200" cy="45720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1430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decline is systemic — delivery, quality, pricing and retention all need simultaneous attention.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0" y="2423160"/>
            <a:ext cx="457200" cy="45720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and East zones are the highest-priority recovery targets. Fix them first for maximum revenue impact.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0" y="3657600"/>
            <a:ext cx="457200" cy="45720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90-day sprint can reverse the trend. The solutions are clear; execution speed is what matters.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2336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Heemaal Jaglan  |  Zomato Analytics Dashboard  |  Business Recovery Plan  |  2024-25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1178</Words>
  <Application>Microsoft Office PowerPoint</Application>
  <PresentationFormat>On-screen Show (16:9)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Sales Analysis</dc:title>
  <dc:subject>PptxGenJS Presentation</dc:subject>
  <dc:creator>PptxGenJS</dc:creator>
  <cp:lastModifiedBy>Heemaal Jaglan</cp:lastModifiedBy>
  <cp:revision>3</cp:revision>
  <dcterms:created xsi:type="dcterms:W3CDTF">2026-06-30T09:42:54Z</dcterms:created>
  <dcterms:modified xsi:type="dcterms:W3CDTF">2026-06-30T09:54:09Z</dcterms:modified>
</cp:coreProperties>
</file>